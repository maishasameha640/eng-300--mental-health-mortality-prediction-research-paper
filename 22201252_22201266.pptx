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1" r:id="rId5"/>
    <p:sldId id="262" r:id="rId6"/>
    <p:sldId id="263" r:id="rId7"/>
    <p:sldId id="272" r:id="rId8"/>
    <p:sldId id="273" r:id="rId9"/>
    <p:sldId id="274" r:id="rId10"/>
    <p:sldId id="275" r:id="rId11"/>
    <p:sldId id="277" r:id="rId12"/>
    <p:sldId id="268" r:id="rId13"/>
    <p:sldId id="269" r:id="rId14"/>
    <p:sldId id="276" r:id="rId15"/>
    <p:sldId id="270" r:id="rId16"/>
    <p:sldId id="271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sz="2400"/>
            </a:lvl1pPr>
            <a:lvl2pPr marL="406400" indent="127000" algn="ctr">
              <a:buClrTx/>
              <a:buSzTx/>
              <a:buFontTx/>
              <a:buNone/>
              <a:defRPr sz="2400"/>
            </a:lvl2pPr>
            <a:lvl3pPr marL="406400" indent="609600" algn="ctr">
              <a:buClrTx/>
              <a:buSzTx/>
              <a:buFontTx/>
              <a:buNone/>
              <a:defRPr sz="2400"/>
            </a:lvl3pPr>
            <a:lvl4pPr marL="406400" indent="1079500" algn="ctr">
              <a:buClrTx/>
              <a:buSzTx/>
              <a:buFontTx/>
              <a:buNone/>
              <a:defRPr sz="2400"/>
            </a:lvl4pPr>
            <a:lvl5pPr marL="406400" indent="1536700" algn="ctr">
              <a:buClrTx/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Google Shape;36;p5"/>
          <p:cNvSpPr txBox="1">
            <a:spLocks noGrp="1"/>
          </p:cNvSpPr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 b="1"/>
            </a:lvl1pPr>
            <a:lvl2pPr marL="228600" indent="457200">
              <a:buClrTx/>
              <a:buSzTx/>
              <a:buFontTx/>
              <a:buNone/>
              <a:defRPr sz="2400" b="1"/>
            </a:lvl2pPr>
            <a:lvl3pPr marL="228600" indent="914400">
              <a:buClrTx/>
              <a:buSzTx/>
              <a:buFontTx/>
              <a:buNone/>
              <a:defRPr sz="2400" b="1"/>
            </a:lvl3pPr>
            <a:lvl4pPr marL="228600" indent="1371600">
              <a:buClrTx/>
              <a:buSzTx/>
              <a:buFontTx/>
              <a:buNone/>
              <a:defRPr sz="2400" b="1"/>
            </a:lvl4pPr>
            <a:lvl5pPr marL="22860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43;p6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Google Shape;44;p6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Google Shape;45;p6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61;p9"/>
          <p:cNvSpPr txBox="1"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6" name="Google Shape;67;p10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89;p13"/>
          <p:cNvSpPr txBox="1"/>
          <p:nvPr/>
        </p:nvSpPr>
        <p:spPr>
          <a:xfrm>
            <a:off x="803101" y="1465221"/>
            <a:ext cx="10249250" cy="107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b">
            <a:spAutoFit/>
          </a:bodyPr>
          <a:lstStyle>
            <a:lvl1pPr algn="ctr">
              <a:defRPr sz="32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Improving Mental Health Mortality Prediction: A Machine Learning Approach for Risk Assessment and Clinical Guidance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”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6" name="Google Shape;90;p13"/>
          <p:cNvSpPr txBox="1"/>
          <p:nvPr/>
        </p:nvSpPr>
        <p:spPr>
          <a:xfrm>
            <a:off x="401873" y="3627549"/>
            <a:ext cx="3276651" cy="52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8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u="sng" dirty="0">
                <a:solidFill>
                  <a:srgbClr val="CC3399"/>
                </a:solidFill>
              </a:rPr>
              <a:t>Presented By</a:t>
            </a:r>
            <a:r>
              <a:rPr lang="en-US" u="sng" dirty="0">
                <a:solidFill>
                  <a:srgbClr val="CC3399"/>
                </a:solidFill>
              </a:rPr>
              <a:t>:</a:t>
            </a:r>
            <a:endParaRPr u="sng" dirty="0">
              <a:solidFill>
                <a:srgbClr val="CC3399"/>
              </a:solidFill>
            </a:endParaRPr>
          </a:p>
        </p:txBody>
      </p:sp>
      <p:sp>
        <p:nvSpPr>
          <p:cNvPr id="117" name="Google Shape;91;p13"/>
          <p:cNvSpPr txBox="1"/>
          <p:nvPr/>
        </p:nvSpPr>
        <p:spPr>
          <a:xfrm>
            <a:off x="7484749" y="3539847"/>
            <a:ext cx="3648652" cy="907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2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u="sng" dirty="0">
                <a:solidFill>
                  <a:srgbClr val="CC3399"/>
                </a:solidFill>
              </a:rPr>
              <a:t>Presented To:</a:t>
            </a:r>
            <a:endParaRPr u="sng" dirty="0">
              <a:solidFill>
                <a:srgbClr val="CC3399"/>
              </a:solidFill>
            </a:endParaRPr>
          </a:p>
          <a:p>
            <a:pPr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118" name="Google Shape;92;p13" descr="Google Shape;92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6344"/>
            <a:ext cx="12192000" cy="118756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Google Shape;130;p15">
            <a:extLst>
              <a:ext uri="{FF2B5EF4-FFF2-40B4-BE49-F238E27FC236}">
                <a16:creationId xmlns:a16="http://schemas.microsoft.com/office/drawing/2014/main" id="{50B0517C-D8AC-46A0-BE7F-40F6E3D33553}"/>
              </a:ext>
            </a:extLst>
          </p:cNvPr>
          <p:cNvSpPr txBox="1"/>
          <p:nvPr/>
        </p:nvSpPr>
        <p:spPr>
          <a:xfrm>
            <a:off x="387974" y="4218025"/>
            <a:ext cx="5641351" cy="1052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24" tIns="91424" rIns="91424" bIns="91424">
            <a:spAutoFit/>
          </a:bodyPr>
          <a:lstStyle/>
          <a:p>
            <a:pPr>
              <a:lnSpc>
                <a:spcPct val="150000"/>
              </a:lnSpc>
              <a:defRPr sz="3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 err="1"/>
              <a:t>Shuhurat</a:t>
            </a:r>
            <a:r>
              <a:rPr lang="en-US" sz="2000" b="1" dirty="0"/>
              <a:t> </a:t>
            </a:r>
            <a:r>
              <a:rPr lang="en-US" sz="2000" b="1" dirty="0" err="1"/>
              <a:t>Fariha</a:t>
            </a:r>
            <a:r>
              <a:rPr lang="en-US" sz="2000" b="1" dirty="0"/>
              <a:t>(22201252)</a:t>
            </a:r>
          </a:p>
          <a:p>
            <a:pPr>
              <a:lnSpc>
                <a:spcPct val="150000"/>
              </a:lnSpc>
              <a:defRPr sz="3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/>
              <a:t>Maisha Sameha(22201266)</a:t>
            </a:r>
            <a:endParaRPr sz="2000" b="1" dirty="0"/>
          </a:p>
        </p:txBody>
      </p:sp>
      <p:sp>
        <p:nvSpPr>
          <p:cNvPr id="7" name="Google Shape;130;p15">
            <a:extLst>
              <a:ext uri="{FF2B5EF4-FFF2-40B4-BE49-F238E27FC236}">
                <a16:creationId xmlns:a16="http://schemas.microsoft.com/office/drawing/2014/main" id="{F1522604-EEED-4F84-9876-2CC5F49A2EC9}"/>
              </a:ext>
            </a:extLst>
          </p:cNvPr>
          <p:cNvSpPr txBox="1"/>
          <p:nvPr/>
        </p:nvSpPr>
        <p:spPr>
          <a:xfrm>
            <a:off x="7486651" y="4037050"/>
            <a:ext cx="4152900" cy="1975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24" tIns="91424" rIns="91424" bIns="91424">
            <a:spAutoFit/>
          </a:bodyPr>
          <a:lstStyle/>
          <a:p>
            <a:pPr>
              <a:lnSpc>
                <a:spcPct val="150000"/>
              </a:lnSpc>
              <a:defRPr sz="3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 err="1"/>
              <a:t>Zaima</a:t>
            </a:r>
            <a:r>
              <a:rPr lang="en-US" sz="2000" b="1" dirty="0"/>
              <a:t> Sartaj Taheri</a:t>
            </a:r>
          </a:p>
          <a:p>
            <a:pPr>
              <a:lnSpc>
                <a:spcPct val="150000"/>
              </a:lnSpc>
              <a:defRPr sz="3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/>
              <a:t>Lecturer,</a:t>
            </a:r>
          </a:p>
          <a:p>
            <a:pPr>
              <a:lnSpc>
                <a:spcPct val="150000"/>
              </a:lnSpc>
              <a:defRPr sz="3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/>
              <a:t>Department Of CSE,</a:t>
            </a:r>
          </a:p>
          <a:p>
            <a:pPr>
              <a:lnSpc>
                <a:spcPct val="150000"/>
              </a:lnSpc>
              <a:defRPr sz="3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/>
              <a:t>University Of Asia Pacific</a:t>
            </a:r>
            <a:endParaRPr sz="20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94D8783-FB62-4E74-B048-3C0FF22D8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25" y="0"/>
            <a:ext cx="2236988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01;p14"/>
          <p:cNvSpPr txBox="1"/>
          <p:nvPr/>
        </p:nvSpPr>
        <p:spPr>
          <a:xfrm>
            <a:off x="401399" y="951274"/>
            <a:ext cx="11401252" cy="511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Autofit/>
          </a:bodyPr>
          <a:lstStyle/>
          <a:p>
            <a:pPr marL="457200" indent="-406400">
              <a:lnSpc>
                <a:spcPct val="150000"/>
              </a:lnSpc>
              <a:buClr>
                <a:srgbClr val="0C0C0C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Introduction</a:t>
            </a:r>
          </a:p>
          <a:p>
            <a:pPr marL="457200" indent="-406400">
              <a:lnSpc>
                <a:spcPct val="150000"/>
              </a:lnSpc>
              <a:spcBef>
                <a:spcPts val="700"/>
              </a:spcBef>
              <a:buClr>
                <a:srgbClr val="0C0C0C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Motivation</a:t>
            </a:r>
          </a:p>
          <a:p>
            <a:pPr marL="457200" indent="-406400">
              <a:lnSpc>
                <a:spcPct val="150000"/>
              </a:lnSpc>
              <a:spcBef>
                <a:spcPts val="700"/>
              </a:spcBef>
              <a:buClr>
                <a:srgbClr val="0C0C0C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Objectives</a:t>
            </a:r>
          </a:p>
          <a:p>
            <a:pPr marL="457200" indent="-406400">
              <a:lnSpc>
                <a:spcPct val="150000"/>
              </a:lnSpc>
              <a:spcBef>
                <a:spcPts val="700"/>
              </a:spcBef>
              <a:buClr>
                <a:srgbClr val="0C0C0C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Literature Review</a:t>
            </a:r>
          </a:p>
          <a:p>
            <a:pPr marL="457200" indent="-406400">
              <a:lnSpc>
                <a:spcPct val="150000"/>
              </a:lnSpc>
              <a:spcBef>
                <a:spcPts val="700"/>
              </a:spcBef>
              <a:buClr>
                <a:srgbClr val="0C0C0C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Dataset Development Steps</a:t>
            </a:r>
          </a:p>
          <a:p>
            <a:pPr marL="457200" indent="-406400">
              <a:lnSpc>
                <a:spcPct val="150000"/>
              </a:lnSpc>
              <a:spcBef>
                <a:spcPts val="700"/>
              </a:spcBef>
              <a:buClr>
                <a:srgbClr val="0C0C0C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Proposed Methodology</a:t>
            </a:r>
          </a:p>
          <a:p>
            <a:pPr marL="457200" indent="-406400">
              <a:lnSpc>
                <a:spcPct val="150000"/>
              </a:lnSpc>
              <a:spcBef>
                <a:spcPts val="700"/>
              </a:spcBef>
              <a:buClr>
                <a:srgbClr val="0C0C0C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Conclusion</a:t>
            </a:r>
          </a:p>
        </p:txBody>
      </p:sp>
      <p:sp>
        <p:nvSpPr>
          <p:cNvPr id="121" name="Google Shape;102;p14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124" name="Google Shape;103;p14"/>
          <p:cNvGrpSpPr/>
          <p:nvPr/>
        </p:nvGrpSpPr>
        <p:grpSpPr>
          <a:xfrm>
            <a:off x="-12032" y="14852"/>
            <a:ext cx="12204033" cy="784788"/>
            <a:chOff x="0" y="-11177"/>
            <a:chExt cx="12204032" cy="784786"/>
          </a:xfrm>
        </p:grpSpPr>
        <p:sp>
          <p:nvSpPr>
            <p:cNvPr id="122" name="Rectangle"/>
            <p:cNvSpPr/>
            <p:nvPr/>
          </p:nvSpPr>
          <p:spPr>
            <a:xfrm>
              <a:off x="0" y="-1"/>
              <a:ext cx="12204032" cy="7624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3" name="Contents"/>
            <p:cNvSpPr txBox="1"/>
            <p:nvPr/>
          </p:nvSpPr>
          <p:spPr>
            <a:xfrm>
              <a:off x="52075" y="-11177"/>
              <a:ext cx="1209988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Contents</a:t>
              </a:r>
            </a:p>
          </p:txBody>
        </p:sp>
      </p:grpSp>
      <p:sp>
        <p:nvSpPr>
          <p:cNvPr id="125" name="Google Shape;104;p14"/>
          <p:cNvSpPr/>
          <p:nvPr/>
        </p:nvSpPr>
        <p:spPr>
          <a:xfrm>
            <a:off x="0" y="905567"/>
            <a:ext cx="12192000" cy="94558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37;p16"/>
          <p:cNvSpPr txBox="1"/>
          <p:nvPr/>
        </p:nvSpPr>
        <p:spPr>
          <a:xfrm>
            <a:off x="4169489" y="119181"/>
            <a:ext cx="330005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156" name="Google Shape;138;p16"/>
          <p:cNvGrpSpPr/>
          <p:nvPr/>
        </p:nvGrpSpPr>
        <p:grpSpPr>
          <a:xfrm>
            <a:off x="-12034" y="14786"/>
            <a:ext cx="12204004" cy="784788"/>
            <a:chOff x="-1" y="-11243"/>
            <a:chExt cx="12204002" cy="784786"/>
          </a:xfrm>
        </p:grpSpPr>
        <p:sp>
          <p:nvSpPr>
            <p:cNvPr id="154" name="Rectangle"/>
            <p:cNvSpPr/>
            <p:nvPr/>
          </p:nvSpPr>
          <p:spPr>
            <a:xfrm>
              <a:off x="-1" y="-1"/>
              <a:ext cx="12204002" cy="7623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/>
              </a:pPr>
              <a:endParaRPr/>
            </a:p>
          </p:txBody>
        </p:sp>
        <p:sp>
          <p:nvSpPr>
            <p:cNvPr id="155" name="Introduction(Cont.)"/>
            <p:cNvSpPr txBox="1"/>
            <p:nvPr/>
          </p:nvSpPr>
          <p:spPr>
            <a:xfrm>
              <a:off x="52074" y="-11243"/>
              <a:ext cx="1209985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Introduction</a:t>
              </a:r>
            </a:p>
          </p:txBody>
        </p:sp>
      </p:grpSp>
      <p:sp>
        <p:nvSpPr>
          <p:cNvPr id="157" name="Google Shape;139;p16"/>
          <p:cNvSpPr/>
          <p:nvPr/>
        </p:nvSpPr>
        <p:spPr>
          <a:xfrm>
            <a:off x="0" y="905567"/>
            <a:ext cx="12192000" cy="113608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9" name="Google Shape;150;p16"/>
          <p:cNvSpPr txBox="1"/>
          <p:nvPr/>
        </p:nvSpPr>
        <p:spPr>
          <a:xfrm>
            <a:off x="1070799" y="1551618"/>
            <a:ext cx="9888902" cy="590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 anchor="ctr">
            <a:spAutoFit/>
          </a:bodyPr>
          <a:lstStyle>
            <a:lvl1pPr marL="457200" indent="-406400" algn="just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US" sz="2000" b="1" dirty="0"/>
              <a:t>Mental health disorders cause significant morbidity and early death worldwide</a:t>
            </a:r>
            <a:r>
              <a:rPr lang="en-US" sz="1800" b="1" dirty="0"/>
              <a:t>.</a:t>
            </a:r>
            <a:endParaRPr sz="1800" b="1" dirty="0"/>
          </a:p>
        </p:txBody>
      </p:sp>
      <p:sp>
        <p:nvSpPr>
          <p:cNvPr id="23" name="Google Shape;150;p16">
            <a:extLst>
              <a:ext uri="{FF2B5EF4-FFF2-40B4-BE49-F238E27FC236}">
                <a16:creationId xmlns:a16="http://schemas.microsoft.com/office/drawing/2014/main" id="{848EF8EF-D608-4F6A-814D-082C32C0E105}"/>
              </a:ext>
            </a:extLst>
          </p:cNvPr>
          <p:cNvSpPr txBox="1"/>
          <p:nvPr/>
        </p:nvSpPr>
        <p:spPr>
          <a:xfrm>
            <a:off x="1013649" y="2732718"/>
            <a:ext cx="9888902" cy="590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 anchor="ctr">
            <a:spAutoFit/>
          </a:bodyPr>
          <a:lstStyle>
            <a:lvl1pPr marL="457200" indent="-406400" algn="just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US" sz="2000" b="1" dirty="0"/>
              <a:t>Current risk assessment tools are limited.</a:t>
            </a:r>
            <a:endParaRPr sz="2000" b="1" dirty="0"/>
          </a:p>
        </p:txBody>
      </p:sp>
      <p:sp>
        <p:nvSpPr>
          <p:cNvPr id="24" name="Google Shape;150;p16">
            <a:extLst>
              <a:ext uri="{FF2B5EF4-FFF2-40B4-BE49-F238E27FC236}">
                <a16:creationId xmlns:a16="http://schemas.microsoft.com/office/drawing/2014/main" id="{9AB48B9A-220B-462B-BDC2-20C824A7488F}"/>
              </a:ext>
            </a:extLst>
          </p:cNvPr>
          <p:cNvSpPr txBox="1"/>
          <p:nvPr/>
        </p:nvSpPr>
        <p:spPr>
          <a:xfrm>
            <a:off x="1023174" y="3342318"/>
            <a:ext cx="9888902" cy="590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 anchor="ctr">
            <a:spAutoFit/>
          </a:bodyPr>
          <a:lstStyle>
            <a:lvl1pPr marL="457200" indent="-406400" algn="just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US" sz="2000" b="1" dirty="0"/>
              <a:t>Electronic Health Records (EHRs) offer new opportunities</a:t>
            </a:r>
            <a:r>
              <a:rPr lang="en-US" sz="2000" dirty="0"/>
              <a:t>..</a:t>
            </a:r>
            <a:endParaRPr sz="2000" b="1" dirty="0"/>
          </a:p>
        </p:txBody>
      </p:sp>
      <p:sp>
        <p:nvSpPr>
          <p:cNvPr id="25" name="Google Shape;150;p16">
            <a:extLst>
              <a:ext uri="{FF2B5EF4-FFF2-40B4-BE49-F238E27FC236}">
                <a16:creationId xmlns:a16="http://schemas.microsoft.com/office/drawing/2014/main" id="{13C4D646-01CF-4742-8FD5-8FF264AAEC1C}"/>
              </a:ext>
            </a:extLst>
          </p:cNvPr>
          <p:cNvSpPr txBox="1"/>
          <p:nvPr/>
        </p:nvSpPr>
        <p:spPr>
          <a:xfrm>
            <a:off x="1023174" y="2123118"/>
            <a:ext cx="9888902" cy="590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 anchor="ctr">
            <a:spAutoFit/>
          </a:bodyPr>
          <a:lstStyle>
            <a:lvl1pPr marL="457200" indent="-406400" algn="just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US" sz="2000" b="1" dirty="0"/>
              <a:t>Severe mental illness (SMI) shortens life expectancy by 10–20 years.</a:t>
            </a:r>
            <a:endParaRPr sz="2000" b="1" dirty="0"/>
          </a:p>
        </p:txBody>
      </p:sp>
      <p:sp>
        <p:nvSpPr>
          <p:cNvPr id="26" name="Google Shape;150;p16">
            <a:extLst>
              <a:ext uri="{FF2B5EF4-FFF2-40B4-BE49-F238E27FC236}">
                <a16:creationId xmlns:a16="http://schemas.microsoft.com/office/drawing/2014/main" id="{90FC6387-0908-4B8E-BD25-22DC47109AC9}"/>
              </a:ext>
            </a:extLst>
          </p:cNvPr>
          <p:cNvSpPr txBox="1"/>
          <p:nvPr/>
        </p:nvSpPr>
        <p:spPr>
          <a:xfrm>
            <a:off x="1013649" y="3990018"/>
            <a:ext cx="9888902" cy="590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 anchor="ctr">
            <a:spAutoFit/>
          </a:bodyPr>
          <a:lstStyle>
            <a:lvl1pPr marL="457200" indent="-406400" algn="just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US" sz="2000" b="1" dirty="0"/>
              <a:t>Machine Learning (ML) can improve mortality prediction</a:t>
            </a:r>
            <a:r>
              <a:rPr lang="en-US" sz="2000" dirty="0"/>
              <a:t>.</a:t>
            </a:r>
            <a:endParaRPr sz="2000" b="1" dirty="0"/>
          </a:p>
        </p:txBody>
      </p:sp>
      <p:sp>
        <p:nvSpPr>
          <p:cNvPr id="27" name="Google Shape;150;p16">
            <a:extLst>
              <a:ext uri="{FF2B5EF4-FFF2-40B4-BE49-F238E27FC236}">
                <a16:creationId xmlns:a16="http://schemas.microsoft.com/office/drawing/2014/main" id="{05FEB5A9-144A-41DB-970E-552894880E63}"/>
              </a:ext>
            </a:extLst>
          </p:cNvPr>
          <p:cNvSpPr txBox="1"/>
          <p:nvPr/>
        </p:nvSpPr>
        <p:spPr>
          <a:xfrm>
            <a:off x="1023174" y="5228268"/>
            <a:ext cx="9888902" cy="590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 anchor="ctr">
            <a:spAutoFit/>
          </a:bodyPr>
          <a:lstStyle>
            <a:lvl1pPr marL="457200" indent="-406400" algn="just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US" sz="2000" b="1" dirty="0"/>
              <a:t>This study proposes an ML-based framework for mortality prediction.</a:t>
            </a:r>
            <a:endParaRPr sz="2000" b="1" dirty="0"/>
          </a:p>
        </p:txBody>
      </p:sp>
      <p:sp>
        <p:nvSpPr>
          <p:cNvPr id="28" name="Google Shape;150;p16">
            <a:extLst>
              <a:ext uri="{FF2B5EF4-FFF2-40B4-BE49-F238E27FC236}">
                <a16:creationId xmlns:a16="http://schemas.microsoft.com/office/drawing/2014/main" id="{7460B133-AAE9-413C-9024-9CA8BA8123C2}"/>
              </a:ext>
            </a:extLst>
          </p:cNvPr>
          <p:cNvSpPr txBox="1"/>
          <p:nvPr/>
        </p:nvSpPr>
        <p:spPr>
          <a:xfrm>
            <a:off x="985074" y="4599618"/>
            <a:ext cx="9888902" cy="590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 anchor="ctr">
            <a:spAutoFit/>
          </a:bodyPr>
          <a:lstStyle>
            <a:lvl1pPr marL="457200" indent="-406400" algn="just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US" sz="2000" b="1" dirty="0"/>
              <a:t>Mental health mortality prediction using ML is underexplored.</a:t>
            </a:r>
            <a:endParaRPr sz="2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CCD107-CCDB-4541-B0F3-AAB21FE10889}"/>
              </a:ext>
            </a:extLst>
          </p:cNvPr>
          <p:cNvSpPr txBox="1"/>
          <p:nvPr/>
        </p:nvSpPr>
        <p:spPr>
          <a:xfrm>
            <a:off x="1114425" y="5980212"/>
            <a:ext cx="836771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Help clinicians detect high-risk patients early</a:t>
            </a:r>
            <a:r>
              <a:rPr lang="en-US" sz="2000" b="1" dirty="0"/>
              <a:t>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74;p18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190" name="Google Shape;175;p18"/>
          <p:cNvGrpSpPr/>
          <p:nvPr/>
        </p:nvGrpSpPr>
        <p:grpSpPr>
          <a:xfrm>
            <a:off x="-116807" y="26029"/>
            <a:ext cx="12204033" cy="762433"/>
            <a:chOff x="0" y="280939"/>
            <a:chExt cx="12204032" cy="762432"/>
          </a:xfrm>
        </p:grpSpPr>
        <p:sp>
          <p:nvSpPr>
            <p:cNvPr id="188" name="Rectangle"/>
            <p:cNvSpPr/>
            <p:nvPr/>
          </p:nvSpPr>
          <p:spPr>
            <a:xfrm>
              <a:off x="0" y="280939"/>
              <a:ext cx="12204032" cy="76243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/>
              </a:pPr>
              <a:endParaRPr/>
            </a:p>
          </p:txBody>
        </p:sp>
        <p:sp>
          <p:nvSpPr>
            <p:cNvPr id="189" name="Motivation"/>
            <p:cNvSpPr txBox="1"/>
            <p:nvPr/>
          </p:nvSpPr>
          <p:spPr>
            <a:xfrm>
              <a:off x="52074" y="304387"/>
              <a:ext cx="12099883" cy="715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lnSpc>
                  <a:spcPct val="90000"/>
                </a:lnSpc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Motivation</a:t>
              </a:r>
            </a:p>
          </p:txBody>
        </p:sp>
      </p:grpSp>
      <p:sp>
        <p:nvSpPr>
          <p:cNvPr id="191" name="Google Shape;176;p18"/>
          <p:cNvSpPr/>
          <p:nvPr/>
        </p:nvSpPr>
        <p:spPr>
          <a:xfrm>
            <a:off x="0" y="810317"/>
            <a:ext cx="12192000" cy="113608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2" name="Google Shape;180;p18"/>
          <p:cNvSpPr txBox="1"/>
          <p:nvPr/>
        </p:nvSpPr>
        <p:spPr>
          <a:xfrm>
            <a:off x="0" y="1026190"/>
            <a:ext cx="12191999" cy="5565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marL="1371600" indent="-406400">
              <a:lnSpc>
                <a:spcPct val="150000"/>
              </a:lnSpc>
              <a:buClr>
                <a:srgbClr val="0C0C0C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People with mental illness face 2–3× higher death risk.</a:t>
            </a:r>
          </a:p>
          <a:p>
            <a:pPr marL="1422400" indent="-457200">
              <a:lnSpc>
                <a:spcPct val="150000"/>
              </a:lnSpc>
              <a:buClr>
                <a:srgbClr val="0C0C0C"/>
              </a:buClr>
              <a:buSzPts val="2800"/>
              <a:buFont typeface="Wingdings" panose="05000000000000000000" pitchFamily="2" charset="2"/>
              <a:buChar char="§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Heart disease from antipsychotics</a:t>
            </a:r>
          </a:p>
          <a:p>
            <a:pPr marL="1422400" indent="-457200">
              <a:lnSpc>
                <a:spcPct val="150000"/>
              </a:lnSpc>
              <a:buClr>
                <a:srgbClr val="0C0C0C"/>
              </a:buClr>
              <a:buSzPts val="2800"/>
              <a:buFont typeface="Wingdings" panose="05000000000000000000" pitchFamily="2" charset="2"/>
              <a:buChar char="§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Substance abuse and overdose</a:t>
            </a:r>
          </a:p>
          <a:p>
            <a:pPr marL="1422400" indent="-457200">
              <a:lnSpc>
                <a:spcPct val="150000"/>
              </a:lnSpc>
              <a:buClr>
                <a:srgbClr val="0C0C0C"/>
              </a:buClr>
              <a:buSzPts val="2800"/>
              <a:buFont typeface="Wingdings" panose="05000000000000000000" pitchFamily="2" charset="2"/>
              <a:buChar char="§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Smoking-related diseases</a:t>
            </a:r>
          </a:p>
          <a:p>
            <a:pPr marL="1422400" indent="-457200">
              <a:lnSpc>
                <a:spcPct val="150000"/>
              </a:lnSpc>
              <a:buClr>
                <a:srgbClr val="0C0C0C"/>
              </a:buClr>
              <a:buSzPts val="2800"/>
              <a:buFont typeface="Wingdings" panose="05000000000000000000" pitchFamily="2" charset="2"/>
              <a:buChar char="§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Underdiagnosed physical illnesses</a:t>
            </a:r>
          </a:p>
          <a:p>
            <a:pPr marL="1371600" indent="-406400">
              <a:lnSpc>
                <a:spcPct val="150000"/>
              </a:lnSpc>
              <a:buClr>
                <a:srgbClr val="0C0C0C"/>
              </a:buClr>
              <a:buSzPts val="2800"/>
              <a:buFont typeface="Times New Roman"/>
              <a:buChar char="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Current prediction tools lack:</a:t>
            </a:r>
          </a:p>
          <a:p>
            <a:pPr marL="1422400" indent="-457200">
              <a:lnSpc>
                <a:spcPct val="150000"/>
              </a:lnSpc>
              <a:buClr>
                <a:srgbClr val="0C0C0C"/>
              </a:buClr>
              <a:buSzPts val="2800"/>
              <a:buFont typeface="Wingdings" panose="05000000000000000000" pitchFamily="2" charset="2"/>
              <a:buChar char="§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Subgroup precision</a:t>
            </a:r>
          </a:p>
          <a:p>
            <a:pPr marL="1422400" indent="-457200">
              <a:lnSpc>
                <a:spcPct val="150000"/>
              </a:lnSpc>
              <a:buClr>
                <a:srgbClr val="0C0C0C"/>
              </a:buClr>
              <a:buSzPts val="2800"/>
              <a:buFont typeface="Wingdings" panose="05000000000000000000" pitchFamily="2" charset="2"/>
              <a:buChar char="§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Clear explanations for clinicians</a:t>
            </a:r>
          </a:p>
          <a:p>
            <a:pPr marL="1422400" indent="-457200">
              <a:lnSpc>
                <a:spcPct val="150000"/>
              </a:lnSpc>
              <a:buClr>
                <a:srgbClr val="0C0C0C"/>
              </a:buClr>
              <a:buSzPts val="2800"/>
              <a:buFont typeface="Wingdings" panose="05000000000000000000" pitchFamily="2" charset="2"/>
              <a:buChar char="§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Consistent performance across populations</a:t>
            </a:r>
          </a:p>
          <a:p>
            <a:pPr marL="965200">
              <a:lnSpc>
                <a:spcPct val="150000"/>
              </a:lnSpc>
              <a:buClr>
                <a:srgbClr val="0C0C0C"/>
              </a:buClr>
              <a:buSzPts val="2800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Our study addresses these gaps using MIMIC-III data and ML.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87;p19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197" name="Google Shape;188;p19"/>
          <p:cNvGrpSpPr/>
          <p:nvPr/>
        </p:nvGrpSpPr>
        <p:grpSpPr>
          <a:xfrm>
            <a:off x="-12032" y="14852"/>
            <a:ext cx="12204033" cy="784788"/>
            <a:chOff x="0" y="-11177"/>
            <a:chExt cx="12204032" cy="784786"/>
          </a:xfrm>
        </p:grpSpPr>
        <p:sp>
          <p:nvSpPr>
            <p:cNvPr id="195" name="Rectangle"/>
            <p:cNvSpPr/>
            <p:nvPr/>
          </p:nvSpPr>
          <p:spPr>
            <a:xfrm>
              <a:off x="0" y="-1"/>
              <a:ext cx="12204032" cy="7624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4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96" name="Objectives"/>
            <p:cNvSpPr txBox="1"/>
            <p:nvPr/>
          </p:nvSpPr>
          <p:spPr>
            <a:xfrm>
              <a:off x="52075" y="-11177"/>
              <a:ext cx="1209988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/>
                <a:t>                                 </a:t>
              </a:r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Objectives</a:t>
              </a:r>
            </a:p>
          </p:txBody>
        </p:sp>
      </p:grpSp>
      <p:sp>
        <p:nvSpPr>
          <p:cNvPr id="198" name="Google Shape;189;p19"/>
          <p:cNvSpPr/>
          <p:nvPr/>
        </p:nvSpPr>
        <p:spPr>
          <a:xfrm>
            <a:off x="0" y="819842"/>
            <a:ext cx="12192000" cy="113608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9" name="Google Shape;193;p19"/>
          <p:cNvSpPr txBox="1"/>
          <p:nvPr/>
        </p:nvSpPr>
        <p:spPr>
          <a:xfrm>
            <a:off x="393324" y="905574"/>
            <a:ext cx="11432452" cy="6646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indent="457200">
              <a:lnSpc>
                <a:spcPct val="115000"/>
              </a:lnSpc>
              <a:spcBef>
                <a:spcPts val="1400"/>
              </a:spcBef>
              <a:defRPr sz="1300" b="1"/>
            </a:pPr>
            <a:endParaRPr dirty="0"/>
          </a:p>
          <a:p>
            <a:pPr marL="457200" indent="-406400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Test multiple ML models for mortality prediction.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en-US" sz="2400" dirty="0" err="1"/>
              <a:t>XGBoost</a:t>
            </a:r>
            <a:r>
              <a:rPr lang="en-US" sz="2400" dirty="0"/>
              <a:t>, Cox PH, Logistic Regression, Autoencoder + RF, Multivariable Model)</a:t>
            </a:r>
            <a:r>
              <a:rPr sz="2400" dirty="0"/>
              <a:t>.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Compare model accuracy and interpretability.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Improve risk assessment for mental health mortality</a:t>
            </a:r>
            <a:r>
              <a:rPr lang="en-US" sz="2400" dirty="0"/>
              <a:t>.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Create tools to support clinical decision-making.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Use survival analysis to track risk over time.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Identify key risk factors through feature analysis.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Check if models work well in different settings.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Suggest future improvements and research areas.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000" b="1" dirty="0"/>
          </a:p>
          <a:p>
            <a:pPr indent="457200" algn="just">
              <a:lnSpc>
                <a:spcPct val="150000"/>
              </a:lnSpc>
              <a:spcBef>
                <a:spcPts val="1200"/>
              </a:spcBef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0;p20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204" name="Google Shape;201;p20"/>
          <p:cNvGrpSpPr/>
          <p:nvPr/>
        </p:nvGrpSpPr>
        <p:grpSpPr>
          <a:xfrm>
            <a:off x="11" y="-11233"/>
            <a:ext cx="12204004" cy="784788"/>
            <a:chOff x="5" y="-11238"/>
            <a:chExt cx="12204002" cy="784786"/>
          </a:xfrm>
        </p:grpSpPr>
        <p:sp>
          <p:nvSpPr>
            <p:cNvPr id="202" name="Rectangle"/>
            <p:cNvSpPr/>
            <p:nvPr/>
          </p:nvSpPr>
          <p:spPr>
            <a:xfrm>
              <a:off x="5" y="4"/>
              <a:ext cx="12204002" cy="7623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03" name="Literature Review"/>
            <p:cNvSpPr txBox="1"/>
            <p:nvPr/>
          </p:nvSpPr>
          <p:spPr>
            <a:xfrm>
              <a:off x="52080" y="-11238"/>
              <a:ext cx="1209985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Literature Review</a:t>
              </a:r>
            </a:p>
          </p:txBody>
        </p:sp>
      </p:grpSp>
      <p:sp>
        <p:nvSpPr>
          <p:cNvPr id="205" name="Google Shape;202;p20"/>
          <p:cNvSpPr/>
          <p:nvPr/>
        </p:nvSpPr>
        <p:spPr>
          <a:xfrm>
            <a:off x="0" y="896041"/>
            <a:ext cx="12192000" cy="142183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0" y="1094543"/>
            <a:ext cx="12192000" cy="6636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marL="6985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1. Automatic prediction of mortality in patients with mental illness (Nature, 2016)</a:t>
            </a:r>
          </a:p>
          <a:p>
            <a:pPr marL="457200" indent="-38735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buFont typeface="Times New Roman"/>
              <a:buChar char="❖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Proposed model was</a:t>
            </a:r>
            <a:r>
              <a:rPr lang="en-US" dirty="0"/>
              <a:t> Logistic Regression, Random Forest, SVM, KNN</a:t>
            </a:r>
            <a:endParaRPr dirty="0"/>
          </a:p>
          <a:p>
            <a:pPr marL="457200" indent="-387350">
              <a:lnSpc>
                <a:spcPct val="115000"/>
              </a:lnSpc>
              <a:buClr>
                <a:srgbClr val="000000"/>
              </a:buClr>
              <a:buSzPts val="2500"/>
              <a:buFont typeface="Times New Roman"/>
              <a:buChar char="❖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RF &amp; SVM achieved </a:t>
            </a:r>
            <a:r>
              <a:rPr lang="en-US" b="1" dirty="0"/>
              <a:t>91.1% accuracy</a:t>
            </a:r>
          </a:p>
          <a:p>
            <a:pPr marL="457200" indent="-387350">
              <a:lnSpc>
                <a:spcPct val="115000"/>
              </a:lnSpc>
              <a:buClr>
                <a:srgbClr val="000000"/>
              </a:buClr>
              <a:buSzPts val="2500"/>
              <a:buFont typeface="Times New Roman"/>
              <a:buChar char="❖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Severity variations affect mortality rates, broad category usage</a:t>
            </a:r>
            <a:endParaRPr dirty="0"/>
          </a:p>
          <a:p>
            <a:pPr>
              <a:lnSpc>
                <a:spcPct val="115000"/>
              </a:lnSpc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>
              <a:lnSpc>
                <a:spcPct val="115000"/>
              </a:lnSpc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800" b="1" dirty="0"/>
              <a:t>2.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Development of ML Model for Mortality in First-Episode Psychosis (Sweden, 2021)</a:t>
            </a:r>
            <a:endParaRPr sz="28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87350" algn="just">
              <a:lnSpc>
                <a:spcPct val="115000"/>
              </a:lnSpc>
              <a:buClr>
                <a:srgbClr val="000000"/>
              </a:buClr>
              <a:buSzPts val="2500"/>
              <a:buFont typeface="Times New Roman"/>
              <a:buChar char="❖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Proposed model was </a:t>
            </a:r>
            <a:r>
              <a:rPr lang="en-US" dirty="0" err="1"/>
              <a:t>XGBoost</a:t>
            </a:r>
            <a:endParaRPr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/>
              <a:t>80.7% accuracy</a:t>
            </a:r>
            <a:r>
              <a:rPr lang="en-US" dirty="0"/>
              <a:t> for substance-related deaths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False positives in 2-year follow-up, lacks some treatments data</a:t>
            </a:r>
          </a:p>
          <a:p>
            <a:pPr indent="457200" algn="just">
              <a:lnSpc>
                <a:spcPct val="150000"/>
              </a:lnSpc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914400">
              <a:lnSpc>
                <a:spcPct val="115000"/>
              </a:lnSpc>
              <a:spcBef>
                <a:spcPts val="1200"/>
              </a:spcBef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0;p20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204" name="Google Shape;201;p20"/>
          <p:cNvGrpSpPr/>
          <p:nvPr/>
        </p:nvGrpSpPr>
        <p:grpSpPr>
          <a:xfrm>
            <a:off x="11" y="-11233"/>
            <a:ext cx="12204004" cy="784788"/>
            <a:chOff x="5" y="-11238"/>
            <a:chExt cx="12204002" cy="784786"/>
          </a:xfrm>
        </p:grpSpPr>
        <p:sp>
          <p:nvSpPr>
            <p:cNvPr id="202" name="Rectangle"/>
            <p:cNvSpPr/>
            <p:nvPr/>
          </p:nvSpPr>
          <p:spPr>
            <a:xfrm>
              <a:off x="5" y="4"/>
              <a:ext cx="12204002" cy="7623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03" name="Literature Review"/>
            <p:cNvSpPr txBox="1"/>
            <p:nvPr/>
          </p:nvSpPr>
          <p:spPr>
            <a:xfrm>
              <a:off x="52080" y="-11238"/>
              <a:ext cx="1209985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Literature Review</a:t>
              </a:r>
            </a:p>
          </p:txBody>
        </p:sp>
      </p:grpSp>
      <p:sp>
        <p:nvSpPr>
          <p:cNvPr id="205" name="Google Shape;202;p20"/>
          <p:cNvSpPr/>
          <p:nvPr/>
        </p:nvSpPr>
        <p:spPr>
          <a:xfrm>
            <a:off x="0" y="896041"/>
            <a:ext cx="12192000" cy="142183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0" y="1094543"/>
            <a:ext cx="12192000" cy="6570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marL="6985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3.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Mortality in Qatari Individuals with Mental Illness: A Retrospective Cohort Study(2021) </a:t>
            </a:r>
          </a:p>
          <a:p>
            <a:pPr marL="527050" indent="-45720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buFont typeface="Wingdings" panose="05000000000000000000" pitchFamily="2" charset="2"/>
              <a:buChar char="v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Proposed model was</a:t>
            </a:r>
            <a:r>
              <a:rPr lang="en-US" dirty="0"/>
              <a:t> SPSS v26, linear regression model, </a:t>
            </a:r>
            <a:r>
              <a:rPr lang="en-US" dirty="0" err="1"/>
              <a:t>Bonferroni’smethod</a:t>
            </a:r>
            <a:endParaRPr dirty="0"/>
          </a:p>
          <a:p>
            <a:pPr marL="457200" indent="-387350">
              <a:lnSpc>
                <a:spcPct val="115000"/>
              </a:lnSpc>
              <a:buClr>
                <a:srgbClr val="000000"/>
              </a:buClr>
              <a:buSzPts val="2500"/>
              <a:buFont typeface="Times New Roman"/>
              <a:buChar char="❖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No significant increase in mortality with mental illness.</a:t>
            </a:r>
            <a:endParaRPr lang="en-US" b="1" dirty="0"/>
          </a:p>
          <a:p>
            <a:pPr marL="457200" indent="-457200">
              <a:lnSpc>
                <a:spcPct val="115000"/>
              </a:lnSpc>
              <a:buFont typeface="Wingdings" panose="05000000000000000000" pitchFamily="2" charset="2"/>
              <a:buChar char="v"/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solidFill>
                  <a:schemeClr val="tx1"/>
                </a:solidFill>
              </a:rPr>
              <a:t>No future work mentioned</a:t>
            </a:r>
          </a:p>
          <a:p>
            <a:pPr>
              <a:lnSpc>
                <a:spcPct val="115000"/>
              </a:lnSpc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4.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The Risk of All-Cause Mortality Associated with Anxiety: A Retrospective Cohort Study Using 'The Health Improvement Network' Database</a:t>
            </a:r>
            <a:endParaRPr sz="28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87350" algn="just">
              <a:lnSpc>
                <a:spcPct val="115000"/>
              </a:lnSpc>
              <a:buClr>
                <a:srgbClr val="000000"/>
              </a:buClr>
              <a:buSzPts val="2500"/>
              <a:buFont typeface="Times New Roman"/>
              <a:buChar char="❖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Proposed model was Cox Regression, </a:t>
            </a:r>
            <a:r>
              <a:rPr lang="en-US" sz="2400" dirty="0" err="1"/>
              <a:t>DExtER</a:t>
            </a:r>
            <a:r>
              <a:rPr lang="en-US" sz="2400" dirty="0"/>
              <a:t> Tool.</a:t>
            </a:r>
          </a:p>
          <a:p>
            <a:pPr marL="457200" indent="-387350" algn="just">
              <a:lnSpc>
                <a:spcPct val="115000"/>
              </a:lnSpc>
              <a:buClr>
                <a:srgbClr val="000000"/>
              </a:buClr>
              <a:buSzPts val="2500"/>
              <a:buFont typeface="Times New Roman"/>
              <a:buChar char="❖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/>
              <a:t>14% higher risk</a:t>
            </a:r>
            <a:r>
              <a:rPr lang="en-US" sz="2400" dirty="0"/>
              <a:t> of mortality with anxiety</a:t>
            </a:r>
            <a:endParaRPr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Limited by diagnostic recording accuracy, mostly unspecified types</a:t>
            </a:r>
          </a:p>
          <a:p>
            <a:pPr indent="457200" algn="just">
              <a:lnSpc>
                <a:spcPct val="150000"/>
              </a:lnSpc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914400">
              <a:lnSpc>
                <a:spcPct val="115000"/>
              </a:lnSpc>
              <a:spcBef>
                <a:spcPts val="1200"/>
              </a:spcBef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121009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0;p20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204" name="Google Shape;201;p20"/>
          <p:cNvGrpSpPr/>
          <p:nvPr/>
        </p:nvGrpSpPr>
        <p:grpSpPr>
          <a:xfrm>
            <a:off x="11" y="-11233"/>
            <a:ext cx="12204004" cy="784788"/>
            <a:chOff x="5" y="-11238"/>
            <a:chExt cx="12204002" cy="784786"/>
          </a:xfrm>
        </p:grpSpPr>
        <p:sp>
          <p:nvSpPr>
            <p:cNvPr id="202" name="Rectangle"/>
            <p:cNvSpPr/>
            <p:nvPr/>
          </p:nvSpPr>
          <p:spPr>
            <a:xfrm>
              <a:off x="5" y="4"/>
              <a:ext cx="12204002" cy="7623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03" name="Literature Review"/>
            <p:cNvSpPr txBox="1"/>
            <p:nvPr/>
          </p:nvSpPr>
          <p:spPr>
            <a:xfrm>
              <a:off x="52080" y="-11238"/>
              <a:ext cx="1209985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Literature Review</a:t>
              </a:r>
            </a:p>
          </p:txBody>
        </p:sp>
      </p:grpSp>
      <p:sp>
        <p:nvSpPr>
          <p:cNvPr id="205" name="Google Shape;202;p20"/>
          <p:cNvSpPr/>
          <p:nvPr/>
        </p:nvSpPr>
        <p:spPr>
          <a:xfrm>
            <a:off x="0" y="896041"/>
            <a:ext cx="12192000" cy="142183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0" y="1065968"/>
            <a:ext cx="12192000" cy="6700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marL="6985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5.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Machine learning-based mortality risk assessment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</a:rPr>
              <a:t>infirst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-episode bipolar disorder: a transdiagnostic external validation study(Sweden/Finland, 2020)</a:t>
            </a:r>
          </a:p>
          <a:p>
            <a:pPr marL="527050" indent="-45720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buFont typeface="Wingdings" panose="05000000000000000000" pitchFamily="2" charset="2"/>
              <a:buChar char="v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Proposed model was</a:t>
            </a:r>
            <a:r>
              <a:rPr lang="en-US" dirty="0"/>
              <a:t> MIRACLE-FEP, </a:t>
            </a:r>
            <a:r>
              <a:rPr lang="en-US" dirty="0" err="1"/>
              <a:t>XGBoost</a:t>
            </a:r>
            <a:r>
              <a:rPr lang="en-US" dirty="0"/>
              <a:t>, R(R Project for </a:t>
            </a:r>
            <a:r>
              <a:rPr lang="en-US" dirty="0" err="1"/>
              <a:t>StatisticalComputing</a:t>
            </a:r>
            <a:r>
              <a:rPr lang="en-US" dirty="0"/>
              <a:t>)</a:t>
            </a:r>
            <a:endParaRPr dirty="0"/>
          </a:p>
          <a:p>
            <a:pPr marL="457200" indent="-387350">
              <a:lnSpc>
                <a:spcPct val="115000"/>
              </a:lnSpc>
              <a:buClr>
                <a:srgbClr val="000000"/>
              </a:buClr>
              <a:buSzPts val="2500"/>
              <a:buFont typeface="Times New Roman"/>
              <a:buChar char="❖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AUROC = 0.77  for 2-year mortality prediction in </a:t>
            </a:r>
            <a:r>
              <a:rPr lang="en-US" dirty="0" err="1"/>
              <a:t>Swedenand</a:t>
            </a:r>
            <a:r>
              <a:rPr lang="en-US" dirty="0"/>
              <a:t> 0.71 in Finland.</a:t>
            </a:r>
            <a:endParaRPr lang="en-US" b="1" dirty="0"/>
          </a:p>
          <a:p>
            <a:pPr marL="457200" indent="-457200">
              <a:lnSpc>
                <a:spcPct val="115000"/>
              </a:lnSpc>
              <a:buFont typeface="Wingdings" panose="05000000000000000000" pitchFamily="2" charset="2"/>
              <a:buChar char="v"/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solidFill>
                  <a:schemeClr val="tx1"/>
                </a:solidFill>
              </a:rPr>
              <a:t>No clinician-assessed risks, lacks causal interpretation</a:t>
            </a:r>
          </a:p>
          <a:p>
            <a:pPr>
              <a:lnSpc>
                <a:spcPct val="115000"/>
              </a:lnSpc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6.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Mortality in people with mental disorders in Poland: A nationwide, register-based cohort study(2009–2018)</a:t>
            </a:r>
            <a:endParaRPr sz="28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87350" algn="just">
              <a:lnSpc>
                <a:spcPct val="115000"/>
              </a:lnSpc>
              <a:buClr>
                <a:srgbClr val="000000"/>
              </a:buClr>
              <a:buSzPts val="2500"/>
              <a:buFont typeface="Times New Roman"/>
              <a:buChar char="❖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Proposed model was statistical analysis using SMR(Standardized mortality Ratios)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SMR: 1.54 overall, 3.04 for substance use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Missing data, no cause-specific mortality rates</a:t>
            </a:r>
          </a:p>
          <a:p>
            <a:pPr indent="457200" algn="just">
              <a:lnSpc>
                <a:spcPct val="150000"/>
              </a:lnSpc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914400">
              <a:lnSpc>
                <a:spcPct val="115000"/>
              </a:lnSpc>
              <a:spcBef>
                <a:spcPts val="1200"/>
              </a:spcBef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146001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0;p20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204" name="Google Shape;201;p20"/>
          <p:cNvGrpSpPr/>
          <p:nvPr/>
        </p:nvGrpSpPr>
        <p:grpSpPr>
          <a:xfrm>
            <a:off x="11" y="-11233"/>
            <a:ext cx="12204004" cy="784788"/>
            <a:chOff x="5" y="-11238"/>
            <a:chExt cx="12204002" cy="784786"/>
          </a:xfrm>
        </p:grpSpPr>
        <p:sp>
          <p:nvSpPr>
            <p:cNvPr id="202" name="Rectangle"/>
            <p:cNvSpPr/>
            <p:nvPr/>
          </p:nvSpPr>
          <p:spPr>
            <a:xfrm>
              <a:off x="5" y="4"/>
              <a:ext cx="12204002" cy="7623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03" name="Literature Review"/>
            <p:cNvSpPr txBox="1"/>
            <p:nvPr/>
          </p:nvSpPr>
          <p:spPr>
            <a:xfrm>
              <a:off x="52080" y="-11238"/>
              <a:ext cx="1209985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Literature Review</a:t>
              </a:r>
            </a:p>
          </p:txBody>
        </p:sp>
      </p:grpSp>
      <p:sp>
        <p:nvSpPr>
          <p:cNvPr id="205" name="Google Shape;202;p20"/>
          <p:cNvSpPr/>
          <p:nvPr/>
        </p:nvSpPr>
        <p:spPr>
          <a:xfrm>
            <a:off x="0" y="896041"/>
            <a:ext cx="12192000" cy="142183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6675" y="1046918"/>
            <a:ext cx="12192000" cy="6782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marL="6985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7. Excess mortality in a cohort of Brazilian patients with a median follow‑up of 11 years after the first psychiatric hospital admission()</a:t>
            </a:r>
          </a:p>
          <a:p>
            <a:pPr marL="527050" indent="-45720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buFont typeface="Wingdings" panose="05000000000000000000" pitchFamily="2" charset="2"/>
              <a:buChar char="v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Proposed model was</a:t>
            </a:r>
            <a:r>
              <a:rPr lang="en-US" sz="2400" dirty="0"/>
              <a:t> SMR, YLL Calculation, Cox Proportional Hazards.</a:t>
            </a:r>
            <a:endParaRPr sz="2400" dirty="0"/>
          </a:p>
          <a:p>
            <a:pPr marL="457200" indent="-457200">
              <a:lnSpc>
                <a:spcPct val="115000"/>
              </a:lnSpc>
              <a:buFont typeface="Wingdings" panose="05000000000000000000" pitchFamily="2" charset="2"/>
              <a:buChar char="v"/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>
                <a:solidFill>
                  <a:schemeClr val="tx1"/>
                </a:solidFill>
              </a:rPr>
              <a:t>SMR: </a:t>
            </a:r>
            <a:r>
              <a:rPr lang="en-US" sz="2400" b="1" dirty="0">
                <a:solidFill>
                  <a:schemeClr val="tx1"/>
                </a:solidFill>
              </a:rPr>
              <a:t>2.90</a:t>
            </a:r>
            <a:r>
              <a:rPr lang="en-US" sz="2400" dirty="0">
                <a:solidFill>
                  <a:schemeClr val="tx1"/>
                </a:solidFill>
              </a:rPr>
              <a:t>, Average </a:t>
            </a:r>
            <a:r>
              <a:rPr lang="en-US" sz="2400" b="1" dirty="0">
                <a:solidFill>
                  <a:schemeClr val="tx1"/>
                </a:solidFill>
              </a:rPr>
              <a:t>27.64 years life lost .</a:t>
            </a:r>
          </a:p>
          <a:p>
            <a:pPr marL="457200" indent="-457200">
              <a:lnSpc>
                <a:spcPct val="115000"/>
              </a:lnSpc>
              <a:buFont typeface="Wingdings" panose="05000000000000000000" pitchFamily="2" charset="2"/>
              <a:buChar char="v"/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>
                <a:solidFill>
                  <a:schemeClr val="tx1"/>
                </a:solidFill>
              </a:rPr>
              <a:t>Excludes deaths outside São Paulo, lacks socioeconomic data.</a:t>
            </a:r>
          </a:p>
          <a:p>
            <a:pPr>
              <a:lnSpc>
                <a:spcPct val="115000"/>
              </a:lnSpc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8. Association of stress-related disorders with subsequent risk of all-cause and cause-specific mortality: A population-based and sibling-controlled cohort study </a:t>
            </a: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v"/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olidFill>
                  <a:schemeClr val="tx1"/>
                </a:solidFill>
              </a:rPr>
              <a:t>Proposed model was Cox proportional hazards; population-based matched cohort and the sibling cohort comparison.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/>
              <a:t>Increased risk of all-cause as well as multiple cause-specific mortality 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/>
              <a:t>Misclassification of stress-related disorders, Lacks outpatient details in the National Patient Register.</a:t>
            </a:r>
          </a:p>
          <a:p>
            <a:pPr indent="457200" algn="just">
              <a:lnSpc>
                <a:spcPct val="150000"/>
              </a:lnSpc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000" dirty="0"/>
          </a:p>
          <a:p>
            <a:pPr indent="914400">
              <a:lnSpc>
                <a:spcPct val="115000"/>
              </a:lnSpc>
              <a:spcBef>
                <a:spcPts val="1200"/>
              </a:spcBef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72854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0;p20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204" name="Google Shape;201;p20"/>
          <p:cNvGrpSpPr/>
          <p:nvPr/>
        </p:nvGrpSpPr>
        <p:grpSpPr>
          <a:xfrm>
            <a:off x="11" y="-11233"/>
            <a:ext cx="12204004" cy="784788"/>
            <a:chOff x="5" y="-11238"/>
            <a:chExt cx="12204002" cy="784786"/>
          </a:xfrm>
        </p:grpSpPr>
        <p:sp>
          <p:nvSpPr>
            <p:cNvPr id="202" name="Rectangle"/>
            <p:cNvSpPr/>
            <p:nvPr/>
          </p:nvSpPr>
          <p:spPr>
            <a:xfrm>
              <a:off x="5" y="4"/>
              <a:ext cx="12204002" cy="7623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03" name="Literature Review"/>
            <p:cNvSpPr txBox="1"/>
            <p:nvPr/>
          </p:nvSpPr>
          <p:spPr>
            <a:xfrm>
              <a:off x="52080" y="-11238"/>
              <a:ext cx="1209985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Literature Review</a:t>
              </a:r>
            </a:p>
          </p:txBody>
        </p:sp>
      </p:grpSp>
      <p:sp>
        <p:nvSpPr>
          <p:cNvPr id="205" name="Google Shape;202;p20"/>
          <p:cNvSpPr/>
          <p:nvPr/>
        </p:nvSpPr>
        <p:spPr>
          <a:xfrm>
            <a:off x="0" y="896041"/>
            <a:ext cx="12192000" cy="142183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0" y="1065968"/>
            <a:ext cx="12192000" cy="4441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marL="6985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9.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A human-interpretable machine learning approach to predict mortality in severe mental illness</a:t>
            </a:r>
          </a:p>
          <a:p>
            <a:pPr marL="527050" indent="-457200">
              <a:lnSpc>
                <a:spcPct val="115000"/>
              </a:lnSpc>
              <a:spcBef>
                <a:spcPts val="1000"/>
              </a:spcBef>
              <a:buClr>
                <a:srgbClr val="000000"/>
              </a:buClr>
              <a:buSzPts val="2500"/>
              <a:buFont typeface="Wingdings" panose="05000000000000000000" pitchFamily="2" charset="2"/>
              <a:buChar char="v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Proposed model was</a:t>
            </a:r>
            <a:r>
              <a:rPr lang="en-US" sz="2400" dirty="0"/>
              <a:t> Logistic Regression, Autoencoder + RF, Cox PH, Interpretability Models.</a:t>
            </a:r>
            <a:endParaRPr sz="2400" dirty="0"/>
          </a:p>
          <a:p>
            <a:pPr marL="457200" indent="-457200">
              <a:lnSpc>
                <a:spcPct val="115000"/>
              </a:lnSpc>
              <a:buFont typeface="Wingdings" panose="05000000000000000000" pitchFamily="2" charset="2"/>
              <a:buChar char="v"/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>
                <a:solidFill>
                  <a:schemeClr val="tx1"/>
                </a:solidFill>
              </a:rPr>
              <a:t>SMR: 7.4 for schizophrenia, risk factors identified.</a:t>
            </a:r>
          </a:p>
          <a:p>
            <a:pPr marL="457200" indent="-457200">
              <a:lnSpc>
                <a:spcPct val="115000"/>
              </a:lnSpc>
              <a:buFont typeface="Wingdings" panose="05000000000000000000" pitchFamily="2" charset="2"/>
              <a:buChar char="v"/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>
                <a:solidFill>
                  <a:schemeClr val="tx1"/>
                </a:solidFill>
              </a:rPr>
              <a:t>Counterintuitive predictions due to imbalanced data</a:t>
            </a:r>
          </a:p>
          <a:p>
            <a:pPr>
              <a:lnSpc>
                <a:spcPct val="115000"/>
              </a:lnSpc>
              <a:defRPr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000" dirty="0"/>
          </a:p>
          <a:p>
            <a:pPr indent="457200" algn="just">
              <a:lnSpc>
                <a:spcPct val="150000"/>
              </a:lnSpc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914400">
              <a:lnSpc>
                <a:spcPct val="115000"/>
              </a:lnSpc>
              <a:spcBef>
                <a:spcPts val="1200"/>
              </a:spcBef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561482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0;p20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204" name="Google Shape;201;p20"/>
          <p:cNvGrpSpPr/>
          <p:nvPr/>
        </p:nvGrpSpPr>
        <p:grpSpPr>
          <a:xfrm>
            <a:off x="0" y="0"/>
            <a:ext cx="12204015" cy="1477285"/>
            <a:chOff x="-6" y="-5"/>
            <a:chExt cx="12204013" cy="1477281"/>
          </a:xfrm>
        </p:grpSpPr>
        <p:sp>
          <p:nvSpPr>
            <p:cNvPr id="202" name="Rectangle"/>
            <p:cNvSpPr/>
            <p:nvPr/>
          </p:nvSpPr>
          <p:spPr>
            <a:xfrm>
              <a:off x="5" y="4"/>
              <a:ext cx="12204002" cy="7623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03" name="Literature Review"/>
            <p:cNvSpPr txBox="1"/>
            <p:nvPr/>
          </p:nvSpPr>
          <p:spPr>
            <a:xfrm>
              <a:off x="-6" y="-5"/>
              <a:ext cx="12191998" cy="1477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Proposed Methodology</a:t>
              </a:r>
            </a:p>
            <a:p>
              <a:endParaRPr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05" name="Google Shape;202;p20"/>
          <p:cNvSpPr/>
          <p:nvPr/>
        </p:nvSpPr>
        <p:spPr>
          <a:xfrm>
            <a:off x="0" y="896041"/>
            <a:ext cx="12192000" cy="142183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B2CC6B-76B3-41EF-8DBB-201152F75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19175"/>
            <a:ext cx="12191999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4361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55;p25"/>
          <p:cNvSpPr txBox="1"/>
          <p:nvPr/>
        </p:nvSpPr>
        <p:spPr>
          <a:xfrm>
            <a:off x="4169489" y="119181"/>
            <a:ext cx="330001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371" name="Google Shape;356;p25"/>
          <p:cNvGrpSpPr/>
          <p:nvPr/>
        </p:nvGrpSpPr>
        <p:grpSpPr>
          <a:xfrm>
            <a:off x="-12032" y="14852"/>
            <a:ext cx="12204033" cy="784788"/>
            <a:chOff x="0" y="-11177"/>
            <a:chExt cx="12204032" cy="784786"/>
          </a:xfrm>
        </p:grpSpPr>
        <p:sp>
          <p:nvSpPr>
            <p:cNvPr id="369" name="Rectangle"/>
            <p:cNvSpPr/>
            <p:nvPr/>
          </p:nvSpPr>
          <p:spPr>
            <a:xfrm>
              <a:off x="0" y="-1"/>
              <a:ext cx="12204032" cy="7624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70" name="Conclusion"/>
            <p:cNvSpPr txBox="1"/>
            <p:nvPr/>
          </p:nvSpPr>
          <p:spPr>
            <a:xfrm>
              <a:off x="52075" y="-11177"/>
              <a:ext cx="1209988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Conclusion</a:t>
              </a:r>
            </a:p>
          </p:txBody>
        </p:sp>
      </p:grpSp>
      <p:sp>
        <p:nvSpPr>
          <p:cNvPr id="372" name="Google Shape;357;p25"/>
          <p:cNvSpPr/>
          <p:nvPr/>
        </p:nvSpPr>
        <p:spPr>
          <a:xfrm>
            <a:off x="0" y="905567"/>
            <a:ext cx="12192000" cy="132658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3" name="Google Shape;363;p25"/>
          <p:cNvSpPr txBox="1"/>
          <p:nvPr/>
        </p:nvSpPr>
        <p:spPr>
          <a:xfrm>
            <a:off x="431038" y="1502266"/>
            <a:ext cx="10757864" cy="3967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A multi-model ML framework was developed. 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 err="1"/>
              <a:t>XGBoost</a:t>
            </a:r>
            <a:r>
              <a:rPr lang="en-US" sz="2400" dirty="0"/>
              <a:t> showed highest accuracy; Cox model helped with survival analysis. </a:t>
            </a:r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Feature engineering and hybrid models improved results.</a:t>
            </a:r>
          </a:p>
          <a:p>
            <a:pPr marL="50800">
              <a:lnSpc>
                <a:spcPct val="150000"/>
              </a:lnSpc>
              <a:buClr>
                <a:srgbClr val="000000"/>
              </a:buClr>
              <a:buSzPts val="2800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 dirty="0"/>
          </a:p>
          <a:p>
            <a:pPr marL="457200" indent="-406400">
              <a:lnSpc>
                <a:spcPct val="150000"/>
              </a:lnSpc>
              <a:buClr>
                <a:srgbClr val="000000"/>
              </a:buClr>
              <a:buSzPts val="2800"/>
              <a:buFont typeface="Times New Roman"/>
              <a:buChar char="❖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C7B6E-A88B-454F-AAB2-0B93911FE127}"/>
              </a:ext>
            </a:extLst>
          </p:cNvPr>
          <p:cNvSpPr txBox="1"/>
          <p:nvPr/>
        </p:nvSpPr>
        <p:spPr>
          <a:xfrm>
            <a:off x="500063" y="3322737"/>
            <a:ext cx="11625262" cy="2154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clinical risk scoring system for early detection.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ML and real clinical care for mental health.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steps: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with diverse patient groups and real hospital settings.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68;p26"/>
          <p:cNvSpPr txBox="1"/>
          <p:nvPr/>
        </p:nvSpPr>
        <p:spPr>
          <a:xfrm>
            <a:off x="4169489" y="119181"/>
            <a:ext cx="330005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378" name="Google Shape;369;p26"/>
          <p:cNvGrpSpPr/>
          <p:nvPr/>
        </p:nvGrpSpPr>
        <p:grpSpPr>
          <a:xfrm>
            <a:off x="0" y="90986"/>
            <a:ext cx="12204004" cy="784788"/>
            <a:chOff x="-1" y="-11243"/>
            <a:chExt cx="12204002" cy="784786"/>
          </a:xfrm>
        </p:grpSpPr>
        <p:sp>
          <p:nvSpPr>
            <p:cNvPr id="376" name="Rectangle"/>
            <p:cNvSpPr/>
            <p:nvPr/>
          </p:nvSpPr>
          <p:spPr>
            <a:xfrm>
              <a:off x="-1" y="-1"/>
              <a:ext cx="12204002" cy="7623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4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377" name="References"/>
            <p:cNvSpPr txBox="1"/>
            <p:nvPr/>
          </p:nvSpPr>
          <p:spPr>
            <a:xfrm>
              <a:off x="52074" y="-11243"/>
              <a:ext cx="1209985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References</a:t>
              </a:r>
            </a:p>
          </p:txBody>
        </p:sp>
      </p:grpSp>
      <p:sp>
        <p:nvSpPr>
          <p:cNvPr id="379" name="Google Shape;370;p26"/>
          <p:cNvSpPr/>
          <p:nvPr/>
        </p:nvSpPr>
        <p:spPr>
          <a:xfrm>
            <a:off x="0" y="905567"/>
            <a:ext cx="12192000" cy="104083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80" name="Google Shape;374;p26"/>
          <p:cNvSpPr txBox="1"/>
          <p:nvPr/>
        </p:nvSpPr>
        <p:spPr>
          <a:xfrm>
            <a:off x="0" y="952500"/>
            <a:ext cx="12192000" cy="590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pPr marL="457200" indent="-228600" algn="just">
              <a:lnSpc>
                <a:spcPct val="120000"/>
              </a:lnSpc>
              <a:defRPr sz="300"/>
            </a:pPr>
            <a:endParaRPr dirty="0"/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1. Automatic prediction of mortality in patients with mental illness using electronic health records</a:t>
            </a:r>
          </a:p>
          <a:p>
            <a:pPr marL="457200" marR="279400" indent="-457200">
              <a:lnSpc>
                <a:spcPct val="92000"/>
              </a:lnSpc>
              <a:spcBef>
                <a:spcPts val="600"/>
              </a:spcBef>
              <a:buAutoNum type="arabicPeriod"/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 dirty="0"/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2. Development and Validation of a Machine Learning–Based Model of Mortality Risk in First-Episode Psychosis</a:t>
            </a:r>
          </a:p>
          <a:p>
            <a:pPr marL="457200" marR="279400" indent="-457200">
              <a:lnSpc>
                <a:spcPct val="92000"/>
              </a:lnSpc>
              <a:spcBef>
                <a:spcPts val="600"/>
              </a:spcBef>
              <a:buAutoNum type="arabicPeriod"/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 dirty="0"/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3. Mortality in Qatari Individuals with Mental Illness: A Retrospective Cohort Study</a:t>
            </a:r>
          </a:p>
          <a:p>
            <a:pPr marL="457200" marR="279400" indent="-457200">
              <a:lnSpc>
                <a:spcPct val="92000"/>
              </a:lnSpc>
              <a:spcBef>
                <a:spcPts val="600"/>
              </a:spcBef>
              <a:buAutoNum type="arabicPeriod"/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 dirty="0"/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4. The Risk of All-Cause Mortality Associated with Anxiety: A Retrospective Cohort Study   Using 'The Health Improvement Network' Database</a:t>
            </a:r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 dirty="0"/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5. Machine learning-based mortality risk assessment in first-episode bipolar disorder: a transdiagnostic external validation study</a:t>
            </a:r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 dirty="0"/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 dirty="0"/>
          </a:p>
          <a:p>
            <a:pPr marR="279400">
              <a:lnSpc>
                <a:spcPct val="92000"/>
              </a:lnSpc>
              <a:spcBef>
                <a:spcPts val="1200"/>
              </a:spcBef>
              <a:defRPr sz="300">
                <a:solidFill>
                  <a:srgbClr val="212529"/>
                </a:solidFill>
                <a:latin typeface="Roboto"/>
                <a:ea typeface="Roboto"/>
                <a:cs typeface="Roboto"/>
                <a:sym typeface="Roboto"/>
              </a:defRPr>
            </a:pPr>
            <a:endParaRPr sz="6000" dirty="0"/>
          </a:p>
          <a:p>
            <a:pPr marR="279400">
              <a:lnSpc>
                <a:spcPct val="92000"/>
              </a:lnSpc>
              <a:spcBef>
                <a:spcPts val="1200"/>
              </a:spcBef>
              <a:defRPr sz="300">
                <a:solidFill>
                  <a:srgbClr val="212529"/>
                </a:solidFill>
                <a:latin typeface="Roboto"/>
                <a:ea typeface="Roboto"/>
                <a:cs typeface="Roboto"/>
                <a:sym typeface="Roboto"/>
              </a:defRPr>
            </a:pPr>
            <a:endParaRPr sz="6000" dirty="0"/>
          </a:p>
          <a:p>
            <a:pPr>
              <a:lnSpc>
                <a:spcPct val="80000"/>
              </a:lnSpc>
              <a:spcBef>
                <a:spcPts val="1200"/>
              </a:spcBef>
              <a:defRPr sz="300">
                <a:latin typeface="Calibri"/>
                <a:ea typeface="Calibri"/>
                <a:cs typeface="Calibri"/>
                <a:sym typeface="Calibri"/>
              </a:defRPr>
            </a:pPr>
            <a:endParaRPr sz="6000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68;p26"/>
          <p:cNvSpPr txBox="1"/>
          <p:nvPr/>
        </p:nvSpPr>
        <p:spPr>
          <a:xfrm>
            <a:off x="4169489" y="119181"/>
            <a:ext cx="3300051" cy="605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 b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CONTENTS</a:t>
            </a:r>
          </a:p>
        </p:txBody>
      </p:sp>
      <p:grpSp>
        <p:nvGrpSpPr>
          <p:cNvPr id="378" name="Google Shape;369;p26"/>
          <p:cNvGrpSpPr/>
          <p:nvPr/>
        </p:nvGrpSpPr>
        <p:grpSpPr>
          <a:xfrm>
            <a:off x="0" y="90986"/>
            <a:ext cx="12204004" cy="784788"/>
            <a:chOff x="-1" y="-11243"/>
            <a:chExt cx="12204002" cy="784786"/>
          </a:xfrm>
        </p:grpSpPr>
        <p:sp>
          <p:nvSpPr>
            <p:cNvPr id="376" name="Rectangle"/>
            <p:cNvSpPr/>
            <p:nvPr/>
          </p:nvSpPr>
          <p:spPr>
            <a:xfrm>
              <a:off x="-1" y="-1"/>
              <a:ext cx="12204002" cy="7623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4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377" name="References"/>
            <p:cNvSpPr txBox="1"/>
            <p:nvPr/>
          </p:nvSpPr>
          <p:spPr>
            <a:xfrm>
              <a:off x="52074" y="-11243"/>
              <a:ext cx="12099852" cy="784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45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dirty="0">
                  <a:solidFill>
                    <a:schemeClr val="accent1">
                      <a:lumMod val="75000"/>
                    </a:schemeClr>
                  </a:solidFill>
                </a:rPr>
                <a:t>References</a:t>
              </a:r>
            </a:p>
          </p:txBody>
        </p:sp>
      </p:grpSp>
      <p:sp>
        <p:nvSpPr>
          <p:cNvPr id="379" name="Google Shape;370;p26"/>
          <p:cNvSpPr/>
          <p:nvPr/>
        </p:nvSpPr>
        <p:spPr>
          <a:xfrm>
            <a:off x="0" y="905567"/>
            <a:ext cx="12192000" cy="104083"/>
          </a:xfrm>
          <a:prstGeom prst="rect">
            <a:avLst/>
          </a:prstGeom>
          <a:gradFill>
            <a:gsLst>
              <a:gs pos="0">
                <a:srgbClr val="4D6081"/>
              </a:gs>
              <a:gs pos="50000">
                <a:srgbClr val="708BBB"/>
              </a:gs>
              <a:gs pos="100000">
                <a:srgbClr val="87A7E0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80" name="Google Shape;374;p26"/>
          <p:cNvSpPr txBox="1"/>
          <p:nvPr/>
        </p:nvSpPr>
        <p:spPr>
          <a:xfrm>
            <a:off x="0" y="952500"/>
            <a:ext cx="12192000" cy="590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pPr marL="457200" indent="-228600" algn="just">
              <a:lnSpc>
                <a:spcPct val="120000"/>
              </a:lnSpc>
              <a:defRPr sz="300"/>
            </a:pPr>
            <a:endParaRPr dirty="0"/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6. Mortality in people with mental disorders in Poland: A nationwide, register-based cohort   study</a:t>
            </a:r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 dirty="0"/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7. Excess mortality in a cohort of Brazilian patients with a median follow‑up of 11 years after the first psychiatric hospital admission</a:t>
            </a:r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 dirty="0"/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8. Association of stress-related disorders with subsequent risk of all-cause and cause-specific mortality: A population-based and sibling-controlled cohort study</a:t>
            </a:r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 </a:t>
            </a:r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9. A human-interpretable machine learning approach to predict mortality in severe mental illness</a:t>
            </a:r>
          </a:p>
          <a:p>
            <a:pPr marR="279400">
              <a:lnSpc>
                <a:spcPct val="92000"/>
              </a:lnSpc>
              <a:spcBef>
                <a:spcPts val="600"/>
              </a:spcBef>
              <a:defRPr sz="15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 dirty="0"/>
          </a:p>
          <a:p>
            <a:pPr marR="279400">
              <a:lnSpc>
                <a:spcPct val="92000"/>
              </a:lnSpc>
              <a:spcBef>
                <a:spcPts val="1200"/>
              </a:spcBef>
              <a:defRPr sz="300">
                <a:solidFill>
                  <a:srgbClr val="212529"/>
                </a:solidFill>
                <a:latin typeface="Roboto"/>
                <a:ea typeface="Roboto"/>
                <a:cs typeface="Roboto"/>
                <a:sym typeface="Roboto"/>
              </a:defRPr>
            </a:pPr>
            <a:endParaRPr sz="6000" dirty="0"/>
          </a:p>
          <a:p>
            <a:pPr marR="279400">
              <a:lnSpc>
                <a:spcPct val="92000"/>
              </a:lnSpc>
              <a:spcBef>
                <a:spcPts val="1200"/>
              </a:spcBef>
              <a:defRPr sz="300">
                <a:solidFill>
                  <a:srgbClr val="212529"/>
                </a:solidFill>
                <a:latin typeface="Roboto"/>
                <a:ea typeface="Roboto"/>
                <a:cs typeface="Roboto"/>
                <a:sym typeface="Roboto"/>
              </a:defRPr>
            </a:pPr>
            <a:endParaRPr sz="6000" dirty="0"/>
          </a:p>
          <a:p>
            <a:pPr>
              <a:lnSpc>
                <a:spcPct val="80000"/>
              </a:lnSpc>
              <a:spcBef>
                <a:spcPts val="1200"/>
              </a:spcBef>
              <a:defRPr sz="300">
                <a:latin typeface="Calibri"/>
                <a:ea typeface="Calibri"/>
                <a:cs typeface="Calibri"/>
                <a:sym typeface="Calibri"/>
              </a:defRPr>
            </a:pP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79176253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1;p27" descr="Google Shape;381;p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Google Shape;382;p2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0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385" name="Google Shape;387;p27" descr="Google Shape;387;p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806" y="1302311"/>
            <a:ext cx="5160646" cy="38675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94;p28" descr="Google Shape;394;p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388" name="Google Shape;395;p28"/>
          <p:cNvSpPr/>
          <p:nvPr/>
        </p:nvSpPr>
        <p:spPr>
          <a:xfrm>
            <a:off x="0" y="-1"/>
            <a:ext cx="12192001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0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392" name="Google Shape;402;p28"/>
          <p:cNvGrpSpPr/>
          <p:nvPr/>
        </p:nvGrpSpPr>
        <p:grpSpPr>
          <a:xfrm>
            <a:off x="3352800" y="1714500"/>
            <a:ext cx="5486400" cy="3429000"/>
            <a:chOff x="0" y="0"/>
            <a:chExt cx="5486400" cy="3429000"/>
          </a:xfrm>
        </p:grpSpPr>
        <p:sp>
          <p:nvSpPr>
            <p:cNvPr id="390" name="Rectangle"/>
            <p:cNvSpPr/>
            <p:nvPr/>
          </p:nvSpPr>
          <p:spPr>
            <a:xfrm>
              <a:off x="0" y="0"/>
              <a:ext cx="5486400" cy="34290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391" name="image11.png" descr="image1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486400" cy="3429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Office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Roboto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MaishaSameha@outlook.com</cp:lastModifiedBy>
  <cp:revision>1</cp:revision>
  <dcterms:modified xsi:type="dcterms:W3CDTF">2025-05-07T02:39:47Z</dcterms:modified>
</cp:coreProperties>
</file>